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</p:sldIdLst>
  <p:sldSz cx="18288000" cy="10287000"/>
  <p:notesSz cx="6858000" cy="9144000"/>
  <p:embeddedFontLst>
    <p:embeddedFont>
      <p:font typeface="Inter" panose="020B0604020202020204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hoqrHcKZMIkIFIc+LnfRn6fx8Z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BFDDED-F39F-430E-ADFF-239DCC5FB866}">
  <a:tblStyle styleId="{5BBFDDED-F39F-430E-ADFF-239DCC5FB8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138" y="26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iatoday.in/cities/delhi/story/pink-passes-in-delhi-buses-touch-100-crore-mark-2336307-2023-02-18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es.delhi.gov.in/sites/default/files/inline-files/women_and_men_in_delhi_2024.pdf" TargetMode="External"/><Relationship Id="rId3" Type="http://schemas.openxmlformats.org/officeDocument/2006/relationships/hyperlink" Target="https://freevectormaps.com/search?q=New%20Delhi&amp;ref=tag" TargetMode="External"/><Relationship Id="rId7" Type="http://schemas.openxmlformats.org/officeDocument/2006/relationships/hyperlink" Target="https://delhiplanning.delhi.gov.in/sites/default/files/Planning/ch._19_demographic_profile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eb.archive.org/web/20160406160207/http:/ncrpb.nic.in/pdf_files/Annual%20Report%202014-15.pdf" TargetMode="External"/><Relationship Id="rId5" Type="http://schemas.openxmlformats.org/officeDocument/2006/relationships/hyperlink" Target="https://www.shutterstock.com/search/delhi-city-map?image_type=illustration" TargetMode="External"/><Relationship Id="rId4" Type="http://schemas.openxmlformats.org/officeDocument/2006/relationships/hyperlink" Target="https://commons.wikimedia.org/wiki/File:National_Capital_Region_%28India%29.svg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ndustantimes.com/cities/delhi-news/delhis-everyday-battle-in-continuation-since-decades-101738671925303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politicalsampark.com/womens-safety-and-empowerment-a-key-election-issue-in-delhi/" TargetMode="External"/><Relationship Id="rId4" Type="http://schemas.openxmlformats.org/officeDocument/2006/relationships/hyperlink" Target="https://www.thehindu.com/news/cities/Delhi/poor-nari-ranking-exposes-women-safety-gaps-in-delhi/article70023648.ece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imesofindia.indiatimes.com/india/what-is-nirbhaya-case/articleshow/72868430.cms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hindustantimes.com/delhi/2012-delhi-gang-rape-verdict-she-survived-13-days-because-she-was-tough-says-doctor-who-treated-victim/story-KTTn0TkHZaIkyODmg38n5M.html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wslaundry.com/2025/01/20/cash-transfers-free-bus-rides-how-parties-are-wooing-delhis-women-voters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dtv.com/india-news/pink-tickets-out-aadhaar-linked-pass-for-delhi-womens-free-bus-rides-8897156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p.ashoka.edu.in/ash/wpaper/paper105_0.pdf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eenpeace.org/static/planet4-india-stateless/2024/10/c293ab29-riding-the-justice-route-1-compressed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ideasforindia.in/topics/social-identity/fighting-gender-inequality-through-mobility-assessing-delhi-s-pink-ticket-scheme.html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eenpeace.org/static/planet4-india-stateless/2024/10/c293ab29-riding-the-justice-route-1-compressed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ideasforindia.in/topics/social-identity/fighting-gender-inequality-through-mobility-assessing-delhi-s-pink-ticket-scheme.html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eenpeace.org/static/planet4-india-stateless/2024/10/c293ab29-riding-the-justice-route-1-compressed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2727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Image Source: </a:t>
            </a:r>
            <a:r>
              <a:rPr lang="en-US" sz="10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https://www.indiatoday.in/cities/delhi/story/pink-passes-in-delhi-buses-touch-100-crore-mark-2336307-2023-02-18</a:t>
            </a:r>
            <a:r>
              <a:rPr lang="en-US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727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5538746eb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a5538746eb_2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Image sources: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https://www.google.com/url?sa=i&amp;url=https%3A%2F%2Ffreevectormaps.com%2Fsearch%3Fq%3DNew%2520Delhi%26ref%3Dtag&amp;psig=AOvVaw1NN2nWZn8ew0Iej5XK6Isg&amp;ust=1763595361110000&amp;source=images&amp;cd=vfe&amp;opi=89978449&amp;ved=0CBYQjhxqFwoTCMCPt-Pv_JADFQAAAAAdAAAAABAL</a:t>
            </a:r>
            <a:r>
              <a:rPr lang="en-US" sz="900">
                <a:solidFill>
                  <a:schemeClr val="dk1"/>
                </a:solidFill>
              </a:rPr>
              <a:t>  </a:t>
            </a:r>
            <a:r>
              <a:rPr lang="en-US" sz="9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ogle.com/url?sa=i&amp;url=https%3A%2F%2Fcommons.wikimedia.org%2Fwiki%2FFile%3ANational_Capital_Region_%2528India%2529.svg&amp;psig=AOvVaw24DsdKBHiDxfpJAjfeKdCD&amp;ust=1763595469460000&amp;source=images&amp;cd=vfe&amp;opi=89978449&amp;ved=0CBkQjhxqFwoTCMDxiaLv_JADFQAAAAAdAAAAABAL</a:t>
            </a:r>
            <a:r>
              <a:rPr lang="en-US" sz="900">
                <a:solidFill>
                  <a:schemeClr val="dk1"/>
                </a:solidFill>
              </a:rPr>
              <a:t> 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ogle.com/url?sa=i&amp;url=https%3A%2F%2Fwww.shutterstock.com%2Fsearch%2Fdelhi-city-map%3Fimage_type%3Dillustration&amp;psig=AOvVaw2a81vvvaS4lTuM-4oNbKz9&amp;ust=1763595813274000&amp;source=images&amp;cd=vfe&amp;opi=89978449&amp;ved=0CBkQjhxqGAoTCMDezcLw_JADFQAAAAAdAAAAABDZAQ</a:t>
            </a:r>
            <a:r>
              <a:rPr lang="en-US" sz="900">
                <a:solidFill>
                  <a:schemeClr val="dk1"/>
                </a:solidFill>
              </a:rPr>
              <a:t> 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Information Sources: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https://web.archive.org/web/20160406160207/http://ncrpb.nic.in/pdf_files/Annual%20Report%202014-15.pdf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7"/>
              </a:rPr>
              <a:t>https://delhiplanning.delhi.gov.in/sites/default/files/Planning/ch._19_demographic_profile.pdf</a:t>
            </a:r>
            <a:r>
              <a:rPr lang="en-US"/>
              <a:t>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8"/>
              </a:rPr>
              <a:t>https://des.delhi.gov.in/sites/default/files/inline-files/women_and_men_in_delhi_2024.pdf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https://www.hindustantimes.com/cities/delhi-news/delhis-everyday-battle-in-continuation-since-decades-101738671925303.html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“For women in the Capital, the concept of safety remains not just a pipe dream, but a concept that many have long given up hope on.”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https://www.thehindu.com/news/cities/Delhi/poor-nari-ranking-exposes-women-safety-gaps-in-delhi/article70023648.ece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Women’s access and safety in transportation is a major concern.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https://politicalsampark.com/womens-safety-and-empowerment-a-key-election-issue-in-delhi/</a:t>
            </a:r>
            <a:r>
              <a:rPr lang="en-US"/>
              <a:t> </a:t>
            </a:r>
            <a:endParaRPr/>
          </a:p>
        </p:txBody>
      </p:sp>
      <p:sp>
        <p:nvSpPr>
          <p:cNvPr id="452" name="Google Shape;4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5538746eb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https://timesofindia.indiatimes.com/india/what-is-nirbhaya-case/articleshow/72868430.cms</a:t>
            </a:r>
            <a:r>
              <a:rPr lang="en-US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Image source: </a:t>
            </a:r>
            <a:r>
              <a:rPr lang="en-US" sz="1200" u="sng">
                <a:solidFill>
                  <a:schemeClr val="hlink"/>
                </a:solidFill>
                <a:hlinkClick r:id="rId4"/>
              </a:rPr>
              <a:t>https://www.hindustantimes.com/delhi/2012-delhi-gang-rape-verdict-she-survived-13-days-because-she-was-tough-says-doctor-who-treated-victim/story-KTTn0TkHZaIkyODmg38n5M.html</a:t>
            </a:r>
            <a:r>
              <a:rPr lang="en-US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3a5538746eb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Image source: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https://www.newslaundry.com/2025/01/20/cash-transfers-free-bus-rides-how-parties-are-wooing-delhis-women-voters</a:t>
            </a:r>
            <a:r>
              <a:rPr lang="en-US"/>
              <a:t> </a:t>
            </a:r>
            <a:endParaRPr/>
          </a:p>
        </p:txBody>
      </p:sp>
      <p:sp>
        <p:nvSpPr>
          <p:cNvPr id="471" name="Google Shape;4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a5538746eb_2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https://www.ndtv.com/india-news/pink-tickets-out-aadhaar-linked-pass-for-delhi-womens-free-bus-rides-8897156</a:t>
            </a:r>
            <a:r>
              <a:rPr lang="en-US"/>
              <a:t>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https://dp.ashoka.edu.in/ash/wpaper/paper105_0.pdf</a:t>
            </a:r>
            <a:r>
              <a:rPr lang="en-US"/>
              <a:t> </a:t>
            </a:r>
            <a:endParaRPr/>
          </a:p>
        </p:txBody>
      </p:sp>
      <p:sp>
        <p:nvSpPr>
          <p:cNvPr id="477" name="Google Shape;477;g3a5538746eb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https://www.greenpeace.org/static/planet4-india-stateless/2024/10/c293ab29-riding-the-justice-route-1-compressed.pdf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https://www.ideasforindia.in/topics/social-identity/fighting-gender-inequality-through-mobility-assessing-delhi-s-pink-ticket-scheme.html</a:t>
            </a:r>
            <a:r>
              <a:rPr lang="en-US"/>
              <a:t> </a:t>
            </a:r>
            <a:endParaRPr/>
          </a:p>
        </p:txBody>
      </p:sp>
      <p:sp>
        <p:nvSpPr>
          <p:cNvPr id="486" name="Google Shape;4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5538746eb_2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https://www.greenpeace.org/static/planet4-india-stateless/2024/10/c293ab29-riding-the-justice-route-1-compressed.pdf</a:t>
            </a: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https://www.ideasforindia.in/topics/social-identity/fighting-gender-inequality-through-mobility-assessing-delhi-s-pink-ticket-scheme.html</a:t>
            </a:r>
            <a:r>
              <a:rPr lang="en-US"/>
              <a:t> </a:t>
            </a:r>
            <a:endParaRPr/>
          </a:p>
        </p:txBody>
      </p:sp>
      <p:sp>
        <p:nvSpPr>
          <p:cNvPr id="493" name="Google Shape;493;g3a5538746eb_2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a5538746eb_2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https://www.greenpeace.org/static/planet4-india-stateless/2024/10/c293ab29-riding-the-justice-route-1-compressed.pdf</a:t>
            </a:r>
            <a:r>
              <a:rPr lang="en-US"/>
              <a:t> </a:t>
            </a:r>
            <a:endParaRPr/>
          </a:p>
        </p:txBody>
      </p:sp>
      <p:sp>
        <p:nvSpPr>
          <p:cNvPr id="500" name="Google Shape;500;g3a5538746eb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" y="0"/>
            <a:ext cx="18288000" cy="102836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4"/>
          <p:cNvGrpSpPr/>
          <p:nvPr/>
        </p:nvGrpSpPr>
        <p:grpSpPr>
          <a:xfrm>
            <a:off x="819706" y="956370"/>
            <a:ext cx="4443976" cy="8097525"/>
            <a:chOff x="0" y="-19050"/>
            <a:chExt cx="1170430" cy="2132682"/>
          </a:xfrm>
        </p:grpSpPr>
        <p:sp>
          <p:nvSpPr>
            <p:cNvPr id="435" name="Google Shape;435;p4"/>
            <p:cNvSpPr/>
            <p:nvPr/>
          </p:nvSpPr>
          <p:spPr>
            <a:xfrm>
              <a:off x="0" y="0"/>
              <a:ext cx="1170430" cy="2113632"/>
            </a:xfrm>
            <a:custGeom>
              <a:avLst/>
              <a:gdLst/>
              <a:ahLst/>
              <a:cxnLst/>
              <a:rect l="l" t="t" r="r" b="b"/>
              <a:pathLst>
                <a:path w="1170430" h="2113632" extrusionOk="0">
                  <a:moveTo>
                    <a:pt x="0" y="0"/>
                  </a:moveTo>
                  <a:lnTo>
                    <a:pt x="1170430" y="0"/>
                  </a:lnTo>
                  <a:lnTo>
                    <a:pt x="1170430" y="2113632"/>
                  </a:lnTo>
                  <a:lnTo>
                    <a:pt x="0" y="2113632"/>
                  </a:lnTo>
                  <a:close/>
                </a:path>
              </a:pathLst>
            </a:custGeom>
            <a:solidFill>
              <a:srgbClr val="D9D9D9">
                <a:alpha val="63921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6" name="Google Shape;436;p4"/>
            <p:cNvSpPr txBox="1"/>
            <p:nvPr/>
          </p:nvSpPr>
          <p:spPr>
            <a:xfrm>
              <a:off x="0" y="-19050"/>
              <a:ext cx="1170430" cy="2132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" name="Google Shape;437;p4"/>
          <p:cNvSpPr txBox="1"/>
          <p:nvPr/>
        </p:nvSpPr>
        <p:spPr>
          <a:xfrm>
            <a:off x="1028700" y="2191808"/>
            <a:ext cx="4074900" cy="57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/>
              <a:t>‘</a:t>
            </a:r>
            <a:r>
              <a:rPr lang="en-US" sz="6000" dirty="0">
                <a:highlight>
                  <a:srgbClr val="F78BA1"/>
                </a:highlight>
              </a:rPr>
              <a:t>Pink Pass</a:t>
            </a:r>
            <a:r>
              <a:rPr lang="en-US" sz="6000" dirty="0"/>
              <a:t>’:</a:t>
            </a:r>
            <a:endParaRPr sz="6000" dirty="0"/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/>
              <a:t>Free Bus Scheme for Women in Delhi, India</a:t>
            </a:r>
            <a:endParaRPr sz="6000" dirty="0"/>
          </a:p>
        </p:txBody>
      </p:sp>
      <p:sp>
        <p:nvSpPr>
          <p:cNvPr id="438" name="Google Shape;438;p4"/>
          <p:cNvSpPr txBox="1"/>
          <p:nvPr/>
        </p:nvSpPr>
        <p:spPr>
          <a:xfrm>
            <a:off x="15460796" y="398825"/>
            <a:ext cx="236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50000"/>
              </a:lnSpc>
              <a:spcBef>
                <a:spcPts val="2727"/>
              </a:spcBef>
              <a:spcAft>
                <a:spcPts val="2727"/>
              </a:spcAft>
              <a:buNone/>
            </a:pPr>
            <a:r>
              <a:rPr lang="en-US" sz="2400">
                <a:solidFill>
                  <a:srgbClr val="F78BA1"/>
                </a:solidFill>
              </a:rPr>
              <a:t>Sharanya Sahu</a:t>
            </a:r>
            <a:endParaRPr sz="2400">
              <a:solidFill>
                <a:srgbClr val="F78BA1"/>
              </a:solidFill>
            </a:endParaRPr>
          </a:p>
        </p:txBody>
      </p:sp>
      <p:sp>
        <p:nvSpPr>
          <p:cNvPr id="439" name="Google Shape;439;p4"/>
          <p:cNvSpPr txBox="1"/>
          <p:nvPr/>
        </p:nvSpPr>
        <p:spPr>
          <a:xfrm>
            <a:off x="1867514" y="9597793"/>
            <a:ext cx="16113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50000"/>
              </a:lnSpc>
              <a:spcBef>
                <a:spcPts val="2727"/>
              </a:spcBef>
              <a:spcAft>
                <a:spcPts val="2727"/>
              </a:spcAft>
              <a:buNone/>
            </a:pPr>
            <a:r>
              <a:rPr lang="en-US" sz="2200" dirty="0">
                <a:solidFill>
                  <a:schemeClr val="dk1"/>
                </a:solidFill>
              </a:rPr>
              <a:t>Image Source: India Today newspaper</a:t>
            </a:r>
            <a:endParaRPr sz="2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5538746eb_2_21"/>
          <p:cNvSpPr/>
          <p:nvPr/>
        </p:nvSpPr>
        <p:spPr>
          <a:xfrm>
            <a:off x="75" y="5724300"/>
            <a:ext cx="18288000" cy="456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g3a5538746eb_2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"/>
            <a:ext cx="7604375" cy="570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a5538746eb_2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4650" y="30275"/>
            <a:ext cx="4950767" cy="570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3a5538746eb_2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84749" y="23225"/>
            <a:ext cx="5703250" cy="57032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3a5538746eb_2_21"/>
          <p:cNvSpPr txBox="1"/>
          <p:nvPr/>
        </p:nvSpPr>
        <p:spPr>
          <a:xfrm>
            <a:off x="236949" y="6142450"/>
            <a:ext cx="176790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Delhi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Capital city/state of India with population 16 million + (2011), projected 26 million + in 2036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Capital Region with a population of 49 million + (2011)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city covers 1500 sq. km, consisting of 11 districts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Sex ratio: </a:t>
            </a:r>
            <a:r>
              <a:rPr lang="en-US" sz="3200">
                <a:solidFill>
                  <a:schemeClr val="dk1"/>
                </a:solidFill>
                <a:highlight>
                  <a:srgbClr val="F78BA1"/>
                </a:highlight>
                <a:latin typeface="Calibri"/>
                <a:ea typeface="Calibri"/>
                <a:cs typeface="Calibri"/>
                <a:sym typeface="Calibri"/>
              </a:rPr>
              <a:t>0.86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(2011)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2022 -23 Worker Population Ratio (WPR): </a:t>
            </a:r>
            <a:r>
              <a:rPr lang="en-US" sz="3200">
                <a:solidFill>
                  <a:schemeClr val="dk1"/>
                </a:solidFill>
                <a:highlight>
                  <a:srgbClr val="F78BA1"/>
                </a:highlight>
                <a:latin typeface="Calibri"/>
                <a:ea typeface="Calibri"/>
                <a:cs typeface="Calibri"/>
                <a:sym typeface="Calibri"/>
              </a:rPr>
              <a:t>56.0% for male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population, </a:t>
            </a:r>
            <a:r>
              <a:rPr lang="en-US" sz="3200">
                <a:solidFill>
                  <a:schemeClr val="dk1"/>
                </a:solidFill>
                <a:highlight>
                  <a:srgbClr val="F78BA1"/>
                </a:highlight>
                <a:latin typeface="Calibri"/>
                <a:ea typeface="Calibri"/>
                <a:cs typeface="Calibri"/>
                <a:sym typeface="Calibri"/>
              </a:rPr>
              <a:t>11.1% for female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population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a5538746eb_2_21"/>
          <p:cNvSpPr txBox="1"/>
          <p:nvPr/>
        </p:nvSpPr>
        <p:spPr>
          <a:xfrm>
            <a:off x="6988629" y="9501782"/>
            <a:ext cx="1092732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Image sources: Free vector maps, Wikimedia Commons, Shutterstock</a:t>
            </a:r>
            <a:endParaRPr sz="2500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4" name="Google Shape;454;p5"/>
          <p:cNvCxnSpPr/>
          <p:nvPr/>
        </p:nvCxnSpPr>
        <p:spPr>
          <a:xfrm rot="5400000">
            <a:off x="-3202371" y="5138738"/>
            <a:ext cx="103176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5" name="Google Shape;455;p5"/>
          <p:cNvSpPr txBox="1"/>
          <p:nvPr/>
        </p:nvSpPr>
        <p:spPr>
          <a:xfrm>
            <a:off x="2295831" y="824873"/>
            <a:ext cx="14506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Women’s Safety: A Major Concern</a:t>
            </a:r>
            <a:endParaRPr/>
          </a:p>
        </p:txBody>
      </p:sp>
      <p:pic>
        <p:nvPicPr>
          <p:cNvPr id="456" name="Google Shape;45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825" y="1909398"/>
            <a:ext cx="630555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1375" y="4192612"/>
            <a:ext cx="9116376" cy="512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5"/>
          <p:cNvSpPr txBox="1"/>
          <p:nvPr/>
        </p:nvSpPr>
        <p:spPr>
          <a:xfrm>
            <a:off x="8623600" y="9371668"/>
            <a:ext cx="91164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Image source: The Hindu</a:t>
            </a:r>
            <a:endParaRPr sz="2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5"/>
          <p:cNvSpPr txBox="1"/>
          <p:nvPr/>
        </p:nvSpPr>
        <p:spPr>
          <a:xfrm>
            <a:off x="2583375" y="5073799"/>
            <a:ext cx="5274300" cy="42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“For women in the Capital, the concept of safety remains not just a pipe dream, but a concept that many have long given up hope on.”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-"/>
            </a:pPr>
            <a:r>
              <a:rPr lang="en-US" sz="36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Hindustan Times, 2025</a:t>
            </a:r>
            <a:endParaRPr sz="36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"/>
          <p:cNvSpPr txBox="1"/>
          <p:nvPr/>
        </p:nvSpPr>
        <p:spPr>
          <a:xfrm>
            <a:off x="9506425" y="1872475"/>
            <a:ext cx="78987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70% of women feel unsafe in public spaces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Delhi </a:t>
            </a:r>
            <a:r>
              <a:rPr lang="en-US" sz="3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1500 cases of gendered violence every year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g3a5538746eb_2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1" cy="1027612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g3a5538746eb_2_51"/>
          <p:cNvSpPr txBox="1"/>
          <p:nvPr/>
        </p:nvSpPr>
        <p:spPr>
          <a:xfrm>
            <a:off x="6904475" y="9320563"/>
            <a:ext cx="1049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Image Source: Hindustan Times</a:t>
            </a:r>
            <a:endParaRPr sz="2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a5538746eb_2_51"/>
          <p:cNvSpPr txBox="1"/>
          <p:nvPr/>
        </p:nvSpPr>
        <p:spPr>
          <a:xfrm>
            <a:off x="971100" y="766325"/>
            <a:ext cx="4163700" cy="8724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woman, Jyoti Singh, was fatally assaulted on this bus.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 was determined to bring the perpetrators to justice, supplying details to police until her demise. She was posthumously nicknamed ‘Nirbhaya’, or the one with no fear.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 story snowballed into massive public outrage and indignation.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a5538746eb_2_51"/>
          <p:cNvSpPr txBox="1"/>
          <p:nvPr/>
        </p:nvSpPr>
        <p:spPr>
          <a:xfrm>
            <a:off x="11829575" y="3633433"/>
            <a:ext cx="5831100" cy="17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issue exploded in 2012, becoming a matter of national outrage.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50" y="3360500"/>
            <a:ext cx="15790575" cy="3021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"/>
          <p:cNvSpPr txBox="1"/>
          <p:nvPr/>
        </p:nvSpPr>
        <p:spPr>
          <a:xfrm>
            <a:off x="1317550" y="2203725"/>
            <a:ext cx="15790500" cy="1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Women’s safety is a highly politicized and emotionally resonant issue in Delhi. It remains a major public concern.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g3a5538746eb_2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750" y="-7573"/>
            <a:ext cx="7715250" cy="1028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0" name="Google Shape;480;g3a5538746eb_2_80"/>
          <p:cNvCxnSpPr/>
          <p:nvPr/>
        </p:nvCxnSpPr>
        <p:spPr>
          <a:xfrm rot="5400000">
            <a:off x="-3202370" y="5138737"/>
            <a:ext cx="1031760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1" name="Google Shape;481;g3a5538746eb_2_80"/>
          <p:cNvSpPr txBox="1"/>
          <p:nvPr/>
        </p:nvSpPr>
        <p:spPr>
          <a:xfrm>
            <a:off x="2231626" y="738125"/>
            <a:ext cx="7809000" cy="18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highlight>
                  <a:srgbClr val="F78BA1"/>
                </a:highlight>
              </a:rPr>
              <a:t>Policy Response: Making Public Transit Accessible to Gender Minorities</a:t>
            </a:r>
            <a:endParaRPr sz="3600" b="1">
              <a:highlight>
                <a:srgbClr val="F78BA1"/>
              </a:highlight>
            </a:endParaRPr>
          </a:p>
        </p:txBody>
      </p:sp>
      <p:sp>
        <p:nvSpPr>
          <p:cNvPr id="482" name="Google Shape;482;g3a5538746eb_2_80"/>
          <p:cNvSpPr txBox="1"/>
          <p:nvPr/>
        </p:nvSpPr>
        <p:spPr>
          <a:xfrm>
            <a:off x="2231625" y="3538700"/>
            <a:ext cx="7809000" cy="5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191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-US" sz="3000">
                <a:latin typeface="Inter"/>
                <a:ea typeface="Inter"/>
                <a:cs typeface="Inter"/>
                <a:sym typeface="Inter"/>
              </a:rPr>
              <a:t>Delhi Transportation Commission (DTC) and Delhi Integrated Multi-Modal Transport System (DMITS) buses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marL="457200" lvl="0" indent="-4191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Since 2019, women and transgender people ride for free</a:t>
            </a:r>
            <a:endParaRPr sz="3000"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4191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ter"/>
              <a:buChar char="●"/>
            </a:pPr>
            <a:r>
              <a:rPr lang="en-US" sz="3000">
                <a:latin typeface="Inter"/>
                <a:ea typeface="Inter"/>
                <a:cs typeface="Inter"/>
                <a:sym typeface="Inter"/>
              </a:rPr>
              <a:t>1.4 million+ people use it every day</a:t>
            </a:r>
            <a:endParaRPr sz="3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g3a5538746eb_2_80"/>
          <p:cNvSpPr txBox="1"/>
          <p:nvPr/>
        </p:nvSpPr>
        <p:spPr>
          <a:xfrm>
            <a:off x="12854950" y="226925"/>
            <a:ext cx="513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Source: Sharanya Sahu</a:t>
            </a:r>
            <a:endParaRPr sz="27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Google Shape;488;p7"/>
          <p:cNvCxnSpPr/>
          <p:nvPr/>
        </p:nvCxnSpPr>
        <p:spPr>
          <a:xfrm>
            <a:off x="9336929" y="274363"/>
            <a:ext cx="0" cy="950880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9" name="Google Shape;489;p7"/>
          <p:cNvSpPr txBox="1"/>
          <p:nvPr/>
        </p:nvSpPr>
        <p:spPr>
          <a:xfrm>
            <a:off x="9618875" y="611555"/>
            <a:ext cx="8247900" cy="90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sz="3600">
                <a:solidFill>
                  <a:schemeClr val="dk1"/>
                </a:solidFill>
                <a:highlight>
                  <a:srgbClr val="F78BA1"/>
                </a:highlight>
                <a:latin typeface="Calibri"/>
                <a:ea typeface="Calibri"/>
                <a:cs typeface="Calibri"/>
                <a:sym typeface="Calibri"/>
              </a:rPr>
              <a:t>1 billion tickets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issued by 2024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sz="3600">
                <a:solidFill>
                  <a:schemeClr val="dk1"/>
                </a:solidFill>
                <a:highlight>
                  <a:srgbClr val="F78BA1"/>
                </a:highlight>
                <a:latin typeface="Calibri"/>
                <a:ea typeface="Calibri"/>
                <a:cs typeface="Calibri"/>
                <a:sym typeface="Calibri"/>
              </a:rPr>
              <a:t>1/4 women now using buses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 started using buses after the bus travel was made fare-free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sz="3600">
                <a:solidFill>
                  <a:schemeClr val="dk1"/>
                </a:solidFill>
                <a:highlight>
                  <a:srgbClr val="F78BA1"/>
                </a:highlight>
                <a:latin typeface="Calibri"/>
                <a:ea typeface="Calibri"/>
                <a:cs typeface="Calibri"/>
                <a:sym typeface="Calibri"/>
              </a:rPr>
              <a:t>75% of women spending less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transportation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Inspired similar policies in other states (Kerala, Karnataka, Tamil Nadu)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n-US" sz="3600">
                <a:solidFill>
                  <a:schemeClr val="dk1"/>
                </a:solidFill>
                <a:highlight>
                  <a:srgbClr val="F78BA1"/>
                </a:highlight>
                <a:latin typeface="Calibri"/>
                <a:ea typeface="Calibri"/>
                <a:cs typeface="Calibri"/>
                <a:sym typeface="Calibri"/>
              </a:rPr>
              <a:t>24% increase in paid employment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women in economically marginalized groups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7"/>
          <p:cNvSpPr txBox="1"/>
          <p:nvPr/>
        </p:nvSpPr>
        <p:spPr>
          <a:xfrm>
            <a:off x="1108372" y="4277538"/>
            <a:ext cx="7360200" cy="17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F78BA1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sz="9600">
              <a:solidFill>
                <a:srgbClr val="F78B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a5538746eb_2_234"/>
          <p:cNvSpPr txBox="1"/>
          <p:nvPr/>
        </p:nvSpPr>
        <p:spPr>
          <a:xfrm>
            <a:off x="1108372" y="4277538"/>
            <a:ext cx="7360200" cy="17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F78BA1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sz="9600">
              <a:solidFill>
                <a:srgbClr val="F78B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g3a5538746eb_2_2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3964"/>
            <a:ext cx="18288001" cy="92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3a5538746eb_2_234"/>
          <p:cNvSpPr txBox="1"/>
          <p:nvPr/>
        </p:nvSpPr>
        <p:spPr>
          <a:xfrm>
            <a:off x="9292175" y="9614950"/>
            <a:ext cx="87048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Source: ideasforindia.in</a:t>
            </a:r>
            <a:endParaRPr sz="3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5538746eb_2_99"/>
          <p:cNvSpPr txBox="1"/>
          <p:nvPr/>
        </p:nvSpPr>
        <p:spPr>
          <a:xfrm>
            <a:off x="1226400" y="2014800"/>
            <a:ext cx="16455300" cy="56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609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</a:pPr>
            <a:r>
              <a:rPr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women bus staff and reserved seating 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609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</a:pPr>
            <a:r>
              <a:rPr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lighting and surveillance cameras at stop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609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</a:pPr>
            <a:r>
              <a:rPr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stop infrastructure - better shelters to protect people from the rain 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609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</a:pPr>
            <a:r>
              <a:rPr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Improving reliability of the service during peak and late hours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a5538746eb_2_99"/>
          <p:cNvSpPr txBox="1"/>
          <p:nvPr/>
        </p:nvSpPr>
        <p:spPr>
          <a:xfrm>
            <a:off x="916354" y="417707"/>
            <a:ext cx="16455300" cy="17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F78BA1"/>
                </a:solidFill>
                <a:latin typeface="Calibri"/>
                <a:ea typeface="Calibri"/>
                <a:cs typeface="Calibri"/>
                <a:sym typeface="Calibri"/>
              </a:rPr>
              <a:t>What else is desired? </a:t>
            </a:r>
            <a:endParaRPr sz="7200">
              <a:solidFill>
                <a:srgbClr val="F78B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8" name="Google Shape;508;p9"/>
          <p:cNvCxnSpPr/>
          <p:nvPr/>
        </p:nvCxnSpPr>
        <p:spPr>
          <a:xfrm rot="5400000">
            <a:off x="-3202371" y="5138738"/>
            <a:ext cx="103176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9" name="Google Shape;509;p9"/>
          <p:cNvSpPr txBox="1"/>
          <p:nvPr/>
        </p:nvSpPr>
        <p:spPr>
          <a:xfrm>
            <a:off x="2176225" y="1759986"/>
            <a:ext cx="15340200" cy="69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Women in Delhi, particularly women from caste-oppressed, migrant, and working-class backgrounds, have long been excluded from public space, transit, and employment. </a:t>
            </a:r>
            <a:endParaRPr sz="480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highlight>
                  <a:srgbClr val="F78BA1"/>
                </a:highlight>
              </a:rPr>
              <a:t>Availability of public space and amenities isn’t enough, actively promoting the visibility</a:t>
            </a:r>
            <a:r>
              <a:rPr lang="en-US" sz="4800"/>
              <a:t> of othered groups in public can tangibly reduce historic inequities.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Custom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Sharanya Sahu</dc:creator>
  <cp:lastModifiedBy>Sharanya Sahu</cp:lastModifiedBy>
  <cp:revision>1</cp:revision>
  <dcterms:created xsi:type="dcterms:W3CDTF">2006-08-16T00:00:00Z</dcterms:created>
  <dcterms:modified xsi:type="dcterms:W3CDTF">2026-01-02T22:52:55Z</dcterms:modified>
</cp:coreProperties>
</file>